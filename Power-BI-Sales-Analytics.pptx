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22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92647"/>
            <a:ext cx="458680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Sales Analytics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57041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project walkthrough — from raw CSV data to an interactive, drill-through sales dashboard with custom tooltips and actionable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5896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84457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ingests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CSV datasets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build an end-to-end sales analytics solution in Power BI.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30859"/>
            <a:ext cx="4004965" cy="837456"/>
          </a:xfrm>
          <a:prstGeom prst="roundRect">
            <a:avLst>
              <a:gd name="adj" fmla="val 711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377380"/>
            <a:ext cx="251541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Customers &amp; Territories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2640" y="2694980"/>
            <a:ext cx="41691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table and regional territory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2230859"/>
            <a:ext cx="4005039" cy="837456"/>
          </a:xfrm>
          <a:prstGeom prst="roundRect">
            <a:avLst>
              <a:gd name="adj" fmla="val 711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9363" y="237738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89363" y="2694980"/>
            <a:ext cx="4169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Categories, Subcategories, and Products 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210074"/>
            <a:ext cx="4004965" cy="837456"/>
          </a:xfrm>
          <a:prstGeom prst="roundRect">
            <a:avLst>
              <a:gd name="adj" fmla="val 711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3356595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History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640" y="3674194"/>
            <a:ext cx="41691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sales files: 2015, 2016, and 2017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3210074"/>
            <a:ext cx="4005039" cy="837456"/>
          </a:xfrm>
          <a:prstGeom prst="roundRect">
            <a:avLst>
              <a:gd name="adj" fmla="val 711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9363" y="3356595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89363" y="3674194"/>
            <a:ext cx="4169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return records for performance analysis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6D3B04-11E9-B62A-1A88-EBC3432A5DAD}"/>
              </a:ext>
            </a:extLst>
          </p:cNvPr>
          <p:cNvSpPr/>
          <p:nvPr/>
        </p:nvSpPr>
        <p:spPr>
          <a:xfrm>
            <a:off x="8019627" y="4836160"/>
            <a:ext cx="1085455" cy="226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76982"/>
            <a:ext cx="4978896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Cleaning &amp; Transformation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394966"/>
            <a:ext cx="5067672" cy="28716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1488" y="1000423"/>
            <a:ext cx="6875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488" y="1181770"/>
            <a:ext cx="2599060" cy="14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51488" y="1267867"/>
            <a:ext cx="19689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Regional Settings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951488" y="1550417"/>
            <a:ext cx="305626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Changed to English (United States)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51488" y="1897261"/>
            <a:ext cx="6875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488" y="2067148"/>
            <a:ext cx="2599060" cy="14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51488" y="2164705"/>
            <a:ext cx="19689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Birthdate Column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5951488" y="2447255"/>
            <a:ext cx="305626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type changed from Text to Date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951488" y="2794099"/>
            <a:ext cx="6875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488" y="2952452"/>
            <a:ext cx="2599060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51488" y="3061543"/>
            <a:ext cx="19689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Occupation Column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5951488" y="3344094"/>
            <a:ext cx="305626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 </a:t>
            </a:r>
            <a:r>
              <a:rPr lang="en-US" sz="900" i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'Mgmnt'</a:t>
            </a: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r>
              <a:rPr lang="en-US" sz="900" i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'Management'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5951488" y="3690938"/>
            <a:ext cx="6875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488" y="3837831"/>
            <a:ext cx="2599060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51488" y="3958382"/>
            <a:ext cx="196899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Annual Income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5951488" y="4240932"/>
            <a:ext cx="259906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'$' symbol; changed type to Whole Number</a:t>
            </a:r>
            <a:endParaRPr lang="en-US" sz="9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821A5D-41D9-F3D2-759A-B32AC7801160}"/>
              </a:ext>
            </a:extLst>
          </p:cNvPr>
          <p:cNvSpPr/>
          <p:nvPr/>
        </p:nvSpPr>
        <p:spPr>
          <a:xfrm>
            <a:off x="8019627" y="4836160"/>
            <a:ext cx="1085455" cy="226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006054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Overview Dashboard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68381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high-level summary of sales performance, order trends, product performance, and return analysis — all in one tab.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3689"/>
            <a:ext cx="731780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Overview Dashboard — Key Components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KPI Cards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6119" y="2350666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Sales, Orders, Customers, Return %, Last Month Sales &amp; Orders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Charts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60553" y="2350666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Stacked Bar (Sales by Sub-Category), Line Chart (Sales by Date)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87812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548509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Map Visual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96119" y="3866108"/>
            <a:ext cx="44444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Sales by Country with geographic distribution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3087812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548509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Slicers &amp; Parameters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4660553" y="386610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Gender, Region, Email, Year Quarter; Field Parameters with Dimension Selector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44D2E8-2097-D9EC-F8D7-C106FA040E65}"/>
              </a:ext>
            </a:extLst>
          </p:cNvPr>
          <p:cNvSpPr/>
          <p:nvPr/>
        </p:nvSpPr>
        <p:spPr>
          <a:xfrm>
            <a:off x="8019627" y="4836160"/>
            <a:ext cx="1085455" cy="226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1466"/>
            <a:ext cx="5793432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Details &amp; Tooltip Pages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950988"/>
            <a:ext cx="31492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Details (Drill-Through)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232529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from the Overview table to a dedicated product-level page featuring: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0646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Cards for Product Price and Product Cost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Ribbon Chart — Total Sales by Year &amp; Country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 Charts — Sales by Marital Status and Parent Status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table with Full Name, Email, Gender &amp; Sales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95098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 Tooltip Page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749701" y="2325291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Hover-triggered insights on the Overview dashboard: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67965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Sub-Category, Income Status &amp; Total Sales cards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 — Total Sales by Gender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 on the Sales by Sub-Category chart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0A48BB-8013-029D-6853-B21F4E63D4D9}"/>
              </a:ext>
            </a:extLst>
          </p:cNvPr>
          <p:cNvSpPr/>
          <p:nvPr/>
        </p:nvSpPr>
        <p:spPr>
          <a:xfrm>
            <a:off x="8019627" y="4836160"/>
            <a:ext cx="1085455" cy="226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53095"/>
            <a:ext cx="4248894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Complete Project Workflow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918121"/>
            <a:ext cx="7947794" cy="34330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6005" y="3441601"/>
            <a:ext cx="1408710" cy="22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Data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94605" y="3728419"/>
            <a:ext cx="1180110" cy="311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in Power Query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296224" y="3285773"/>
            <a:ext cx="1408710" cy="22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24824" y="3572592"/>
            <a:ext cx="1180110" cy="4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relationships and keys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4657" y="1227895"/>
            <a:ext cx="1408710" cy="22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Import CSVs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83257" y="1514713"/>
            <a:ext cx="1180110" cy="311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raw files into Power BI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62555" y="1227895"/>
            <a:ext cx="1408710" cy="22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Publish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1155" y="1514713"/>
            <a:ext cx="1180110" cy="311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and deploy report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799922" y="1227895"/>
            <a:ext cx="1408710" cy="22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Merge Files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28522" y="1514713"/>
            <a:ext cx="1180110" cy="311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sales sources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8066" y="4456361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data import through Power Query transformation, DAX development, and dashboard design — to a fully validated, published interactive report.</a:t>
            </a:r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D485F8-CA31-4049-6449-0957953EC670}"/>
              </a:ext>
            </a:extLst>
          </p:cNvPr>
          <p:cNvSpPr/>
          <p:nvPr/>
        </p:nvSpPr>
        <p:spPr>
          <a:xfrm>
            <a:off x="8019627" y="4836160"/>
            <a:ext cx="1085455" cy="226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23156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Recommendation 1 &amp; 2: Products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3925119" y="1866081"/>
            <a:ext cx="4722763" cy="1092845"/>
          </a:xfrm>
          <a:prstGeom prst="roundRect">
            <a:avLst>
              <a:gd name="adj" fmla="val 8367"/>
            </a:avLst>
          </a:prstGeom>
          <a:solidFill>
            <a:srgbClr val="0C0524">
              <a:alpha val="95000"/>
            </a:srgbClr>
          </a:solidFill>
          <a:ln w="19050">
            <a:solidFill>
              <a:srgbClr val="48367C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069" y="1866081"/>
            <a:ext cx="76200" cy="10928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43077" y="202689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Top Performers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4143077" y="2344489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Bikes &amp; Mountain Bikes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sales. Increase inventory, strengthen marketing, and run promotions to maximize revenue.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925119" y="3100685"/>
            <a:ext cx="4722763" cy="1319659"/>
          </a:xfrm>
          <a:prstGeom prst="roundRect">
            <a:avLst>
              <a:gd name="adj" fmla="val 6929"/>
            </a:avLst>
          </a:prstGeom>
          <a:solidFill>
            <a:srgbClr val="0C0524">
              <a:alpha val="95000"/>
            </a:srgbClr>
          </a:solidFill>
          <a:ln w="19050">
            <a:solidFill>
              <a:srgbClr val="48367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069" y="3100685"/>
            <a:ext cx="76200" cy="1319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43077" y="3261494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Fix Low Performers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143077" y="3579093"/>
            <a:ext cx="43439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Socks, Cleaners, Vests &amp; Caps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underperform. Offer bundles, reposition through targeted campaigns, or discontinue if needed.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C6A649-AE8F-5AB4-A56A-8C23C481E5A0}"/>
              </a:ext>
            </a:extLst>
          </p:cNvPr>
          <p:cNvSpPr/>
          <p:nvPr/>
        </p:nvSpPr>
        <p:spPr>
          <a:xfrm>
            <a:off x="8019627" y="4836160"/>
            <a:ext cx="1085455" cy="226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4045"/>
            <a:ext cx="5380062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Recommendation 3: Reduce Returns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4489" y="2024360"/>
            <a:ext cx="254905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returned products are </a:t>
            </a:r>
            <a:r>
              <a:rPr lang="en-US" sz="8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Bottles, Patch Kits, and Mountain Tire Tubes</a:t>
            </a:r>
            <a:r>
              <a:rPr lang="en-US" sz="8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Investigate root causes to reduce return rates and improve profitability.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935" y="940891"/>
            <a:ext cx="4970190" cy="28164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4489" y="3959721"/>
            <a:ext cx="2538338" cy="849660"/>
          </a:xfrm>
          <a:prstGeom prst="roundRect">
            <a:avLst>
              <a:gd name="adj" fmla="val 5584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12" y="4077444"/>
            <a:ext cx="338882" cy="33888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5379" y="4170611"/>
            <a:ext cx="152474" cy="1524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2212" y="4506292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Quality Issues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3302794" y="3959721"/>
            <a:ext cx="2538338" cy="849660"/>
          </a:xfrm>
          <a:prstGeom prst="roundRect">
            <a:avLst>
              <a:gd name="adj" fmla="val 5584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0517" y="4077444"/>
            <a:ext cx="338882" cy="338882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13683" y="4170611"/>
            <a:ext cx="152474" cy="15247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420517" y="4506292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Unclear Descriptions</a:t>
            </a:r>
            <a:endParaRPr lang="en-US" sz="1150" dirty="0"/>
          </a:p>
        </p:txBody>
      </p:sp>
      <p:sp>
        <p:nvSpPr>
          <p:cNvPr id="13" name="Shape 6"/>
          <p:cNvSpPr/>
          <p:nvPr/>
        </p:nvSpPr>
        <p:spPr>
          <a:xfrm>
            <a:off x="5931098" y="3959721"/>
            <a:ext cx="2538338" cy="849660"/>
          </a:xfrm>
          <a:prstGeom prst="roundRect">
            <a:avLst>
              <a:gd name="adj" fmla="val 5584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8821" y="4077444"/>
            <a:ext cx="338882" cy="338882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41988" y="4170611"/>
            <a:ext cx="152474" cy="152474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048821" y="4506292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Packaging Damage</a:t>
            </a:r>
            <a:endParaRPr lang="en-US" sz="11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6571D1-CD2B-F464-487D-F0844A836632}"/>
              </a:ext>
            </a:extLst>
          </p:cNvPr>
          <p:cNvSpPr/>
          <p:nvPr/>
        </p:nvSpPr>
        <p:spPr>
          <a:xfrm>
            <a:off x="8019627" y="4836160"/>
            <a:ext cx="1085455" cy="226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5127"/>
            <a:ext cx="813970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Recommendations 4 &amp; 5: Growth &amp; Retention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43807"/>
            <a:ext cx="2312566" cy="14292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250257"/>
            <a:ext cx="307092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Expand High-Revenue Regions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6119" y="3567857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USA, Australia, France, Germany &amp; UK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drive the highest sales. Expand operations, increase ad budgets, and develop region-specific strategies.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1643807"/>
            <a:ext cx="2312640" cy="1429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3250257"/>
            <a:ext cx="296101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 Customer Retention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60553" y="3567857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repeat and high-value buyers. Implement </a:t>
            </a:r>
            <a:r>
              <a:rPr lang="en-US" sz="11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programs</a:t>
            </a: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exclusive deals, and personalized email campaigns to improve long-term customer value.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FE5644-E3B4-880C-12DC-0A50F442057B}"/>
              </a:ext>
            </a:extLst>
          </p:cNvPr>
          <p:cNvSpPr/>
          <p:nvPr/>
        </p:nvSpPr>
        <p:spPr>
          <a:xfrm>
            <a:off x="8019627" y="4836160"/>
            <a:ext cx="1085455" cy="226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531</Words>
  <Application>Microsoft Office PowerPoint</Application>
  <PresentationFormat>On-screen Show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Petrona Bold</vt:lpstr>
      <vt:lpstr>Petrona Light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Manjunatha J S</cp:lastModifiedBy>
  <cp:revision>2</cp:revision>
  <dcterms:created xsi:type="dcterms:W3CDTF">2026-05-17T15:48:02Z</dcterms:created>
  <dcterms:modified xsi:type="dcterms:W3CDTF">2026-05-17T16:14:56Z</dcterms:modified>
</cp:coreProperties>
</file>